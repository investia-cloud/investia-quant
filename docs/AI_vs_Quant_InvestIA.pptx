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it-IT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it-I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3472FBF-6615-4472-9A34-8ADB4D5EB4B4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7446F-B6FB-4050-939A-1CB5FF609E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C87EE8-0661-495C-80A9-A9D2E7B5CF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it-I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it-IT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it-IT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it-IT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it-IT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it-IT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it-IT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it-IT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0" y="182880"/>
            <a:ext cx="292572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0" spc="-1" strike="noStrike">
                <a:solidFill>
                  <a:srgbClr val="cadcfc">
                    <a:alpha val="15000"/>
                  </a:srgbClr>
                </a:solidFill>
                <a:latin typeface="Calibri"/>
              </a:rPr>
              <a:t>?</a:t>
            </a:r>
            <a:endParaRPr b="0" lang="it-IT" sz="3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2"/>
          <p:cNvSpPr/>
          <p:nvPr/>
        </p:nvSpPr>
        <p:spPr>
          <a:xfrm>
            <a:off x="457200" y="4572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e2761"/>
                </a:solidFill>
                <a:latin typeface="Calibri"/>
              </a:rPr>
              <a:t>DOMANDA DEL CLIENTE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3"/>
          <p:cNvSpPr/>
          <p:nvPr/>
        </p:nvSpPr>
        <p:spPr>
          <a:xfrm>
            <a:off x="457200" y="681840"/>
            <a:ext cx="59432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Perché usare portafogli</a:t>
            </a:r>
            <a:endParaRPr b="0" lang="it-IT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rotazionali o sistemi</a:t>
            </a:r>
            <a:endParaRPr b="0" lang="it-IT" sz="3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di trading validati…</a:t>
            </a:r>
            <a:endParaRPr b="0" lang="it-IT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4"/>
          <p:cNvSpPr/>
          <p:nvPr/>
        </p:nvSpPr>
        <p:spPr>
          <a:xfrm>
            <a:off x="457200" y="2856960"/>
            <a:ext cx="5943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cadcfc"/>
                </a:solidFill>
                <a:latin typeface="Calibri"/>
              </a:rPr>
              <a:t>…</a:t>
            </a:r>
            <a:r>
              <a:rPr b="0" i="1" lang="en-US" sz="2800" spc="-1" strike="noStrike">
                <a:solidFill>
                  <a:srgbClr val="cadcfc"/>
                </a:solidFill>
                <a:latin typeface="Calibri"/>
              </a:rPr>
              <a:t>quando potrei chiedere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cadcfc"/>
                </a:solidFill>
                <a:latin typeface="Calibri"/>
              </a:rPr>
              <a:t>all'AI di suggerirmi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cadcfc"/>
                </a:solidFill>
                <a:latin typeface="Calibri"/>
              </a:rPr>
              <a:t>i migliori 3 titoli?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5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>
                    <a:alpha val="60000"/>
                  </a:srgbClr>
                </a:solidFill>
                <a:latin typeface="Calibri"/>
              </a:rPr>
              <a:t>Invest IA — Nota metodologica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9143640" cy="1051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457200" y="914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Perché la validazione quantitativa è insostituibile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457200" y="658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adcfc"/>
                </a:solidFill>
                <a:latin typeface="Calibri"/>
              </a:rPr>
              <a:t>La risposta in 4 punti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320040" y="114300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484560" y="1307520"/>
            <a:ext cx="420120" cy="420120"/>
          </a:xfrm>
          <a:prstGeom prst="ellipse">
            <a:avLst/>
          </a:prstGeom>
          <a:solidFill>
            <a:srgbClr val="c0392b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84560" y="13075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978480" y="130752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4155"/>
                </a:solidFill>
                <a:latin typeface="Calibri"/>
              </a:rPr>
              <a:t>Neanche l’AI conosce il futuro</a:t>
            </a:r>
            <a:endParaRPr b="0" lang="it-I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484560" y="1764720"/>
            <a:ext cx="37854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Un modello linguistico è addestrato su dati storici — ha già "visto" i vincitori del passato. I suoi suggerimenti incorporano survivorship bias e look-ahead bias, due nemici silenziosi di qualsiasi backtest.</a:t>
            </a:r>
            <a:endParaRPr b="0" lang="it-IT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4709160" y="114300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4873680" y="1307520"/>
            <a:ext cx="420120" cy="420120"/>
          </a:xfrm>
          <a:prstGeom prst="ellipse">
            <a:avLst/>
          </a:prstGeom>
          <a:solidFill>
            <a:srgbClr val="1a7a4a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873680" y="13075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5367600" y="130752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4155"/>
                </a:solidFill>
                <a:latin typeface="Calibri"/>
              </a:rPr>
              <a:t>I nostri PTF sono validati OOS</a:t>
            </a:r>
            <a:endParaRPr b="0" lang="it-I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4873680" y="1764720"/>
            <a:ext cx="37854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WFO, OFC, DSR e Monte Carlo verificano che la performance sia robusta su dati mai visti in fase di ottimizzazione. Un LLM non supera nessuno di questi test perché non può essere testato.</a:t>
            </a:r>
            <a:endParaRPr b="0" lang="it-IT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320040" y="301752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484560" y="3182040"/>
            <a:ext cx="420120" cy="420120"/>
          </a:xfrm>
          <a:prstGeom prst="ellipse">
            <a:avLst/>
          </a:prstGeom>
          <a:solidFill>
            <a:srgbClr val="c0392b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484560" y="3182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978480" y="318204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4155"/>
                </a:solidFill>
                <a:latin typeface="Calibri"/>
              </a:rPr>
              <a:t>Le narrative sono già prezzate</a:t>
            </a:r>
            <a:endParaRPr b="0" lang="it-I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484560" y="3639240"/>
            <a:ext cx="37854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Quando un LLM dice "NVDA è forte nell'AI", il mercato lo sa già. Il momentum quantitativo misura ciò che il mercato sta effettivamente premiando — non ciò che viene raccontato.</a:t>
            </a:r>
            <a:endParaRPr b="0" lang="it-IT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4709160" y="301752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9"/>
          <p:cNvSpPr/>
          <p:nvPr/>
        </p:nvSpPr>
        <p:spPr>
          <a:xfrm>
            <a:off x="4873680" y="3182040"/>
            <a:ext cx="420120" cy="420120"/>
          </a:xfrm>
          <a:prstGeom prst="ellipse">
            <a:avLst/>
          </a:prstGeom>
          <a:solidFill>
            <a:srgbClr val="1a7a4a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0"/>
          <p:cNvSpPr/>
          <p:nvPr/>
        </p:nvSpPr>
        <p:spPr>
          <a:xfrm>
            <a:off x="4873680" y="3182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5367600" y="318204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34155"/>
                </a:solidFill>
                <a:latin typeface="Calibri"/>
              </a:rPr>
              <a:t>Criterio oggettivo di promozione</a:t>
            </a:r>
            <a:endParaRPr b="0" lang="it-I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4873680" y="3639240"/>
            <a:ext cx="378540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</a:rPr>
              <a:t>Un trading system viene inserito in portafoglio solo se supera 5 criteri simultanei: OFC, DSR ≥ 0.95, MC 2/3, Total Return &gt; B&amp;H, MaxDD &lt; B&amp;H. Un'opinione non ha criteri.</a:t>
            </a:r>
            <a:endParaRPr b="0" lang="it-IT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3"/>
          <p:cNvSpPr/>
          <p:nvPr/>
        </p:nvSpPr>
        <p:spPr>
          <a:xfrm>
            <a:off x="0" y="4800600"/>
            <a:ext cx="9143640" cy="3427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457200" y="4800600"/>
            <a:ext cx="8229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adcfc"/>
                </a:solidFill>
                <a:latin typeface="Calibri"/>
              </a:rPr>
              <a:t>Invest IA — I portafogli sono sistemi validati statisticamente, non opinioni.</a:t>
            </a:r>
            <a:endParaRPr b="0" lang="it-IT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2026-06-14T20:57:41Z</dcterms:created>
  <dc:creator>PptxGenJS</dc:creator>
  <dc:description/>
  <dc:language>it-IT</dc:language>
  <cp:lastModifiedBy/>
  <dcterms:modified xsi:type="dcterms:W3CDTF">2026-06-15T11:13:23Z</dcterms:modified>
  <cp:revision>2</cp:revision>
  <dc:subject>PptxGenJS Presentation</dc:subject>
  <dc:title>AI vs Selezione Quantitativa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On-screen Show (16:9)</vt:lpwstr>
  </property>
  <property fmtid="{D5CDD505-2E9C-101B-9397-08002B2CF9AE}" pid="4" name="Slides">
    <vt:i4>2</vt:i4>
  </property>
</Properties>
</file>